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8" r:id="rId4"/>
    <p:sldId id="258" r:id="rId5"/>
    <p:sldId id="269" r:id="rId6"/>
    <p:sldId id="270" r:id="rId7"/>
    <p:sldId id="259" r:id="rId8"/>
    <p:sldId id="260" r:id="rId9"/>
    <p:sldId id="272" r:id="rId10"/>
    <p:sldId id="261" r:id="rId11"/>
    <p:sldId id="275" r:id="rId12"/>
    <p:sldId id="262" r:id="rId13"/>
    <p:sldId id="263" r:id="rId14"/>
    <p:sldId id="273" r:id="rId15"/>
    <p:sldId id="264" r:id="rId16"/>
    <p:sldId id="274" r:id="rId17"/>
    <p:sldId id="266" r:id="rId18"/>
    <p:sldId id="267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2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554" y="1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092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69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1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86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8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06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7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87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J’ai utilisé </a:t>
            </a:r>
            <a:r>
              <a:rPr lang="fr-FR" dirty="0" err="1" smtClean="0"/>
              <a:t>MLflow</a:t>
            </a:r>
            <a:r>
              <a:rPr lang="fr-FR" dirty="0" smtClean="0"/>
              <a:t> pour gérer le cycle de vie du modèle. Le </a:t>
            </a:r>
            <a:r>
              <a:rPr lang="fr-FR" dirty="0" err="1" smtClean="0"/>
              <a:t>tracking</a:t>
            </a:r>
            <a:r>
              <a:rPr lang="fr-FR" dirty="0" smtClean="0"/>
              <a:t> permet de conserver les paramètres et les métriques de mes différentes expériences, et l’interface </a:t>
            </a:r>
            <a:r>
              <a:rPr lang="fr-FR" dirty="0" err="1" smtClean="0"/>
              <a:t>MLflow</a:t>
            </a:r>
            <a:r>
              <a:rPr lang="fr-FR" dirty="0" smtClean="0"/>
              <a:t> facilite ensuite la comparaison des </a:t>
            </a:r>
            <a:r>
              <a:rPr lang="fr-FR" dirty="0" err="1" smtClean="0"/>
              <a:t>runs</a:t>
            </a:r>
            <a:r>
              <a:rPr lang="fr-FR" dirty="0" smtClean="0"/>
              <a:t>. Une fois le modèle final sélectionné, je l’enregistre dans le Model </a:t>
            </a:r>
            <a:r>
              <a:rPr lang="fr-FR" dirty="0" err="1" smtClean="0"/>
              <a:t>Registry</a:t>
            </a:r>
            <a:r>
              <a:rPr lang="fr-FR" dirty="0" smtClean="0"/>
              <a:t> afin de le </a:t>
            </a:r>
            <a:r>
              <a:rPr lang="fr-FR" dirty="0" err="1" smtClean="0"/>
              <a:t>versionner</a:t>
            </a:r>
            <a:r>
              <a:rPr lang="fr-FR" dirty="0" smtClean="0"/>
              <a:t> et de pouvoir le retrouver facilement. Le </a:t>
            </a:r>
            <a:r>
              <a:rPr lang="fr-FR" dirty="0" err="1" smtClean="0"/>
              <a:t>serving</a:t>
            </a:r>
            <a:r>
              <a:rPr lang="fr-FR" dirty="0" smtClean="0"/>
              <a:t> constitue l’étape suivante : il permet d’exposer le modèle comme un service de prédiction, afin qu’une application puisse lui envoyer des données et récupérer une prédiction sans passer par le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F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— Initiez-vous au MLOps | Credit scoring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651052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OpenClassrooms — RNCP7 IA Engineer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1430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24D"/>
                </a:solidFill>
              </a:rPr>
              <a:t>Credit scoring &amp; MLOps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901952"/>
            <a:ext cx="43801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F6B76"/>
                </a:solidFill>
              </a:rPr>
              <a:t>De la préparation des données au modèle versionné et servi avec MLflow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" y="2651760"/>
            <a:ext cx="3657600" cy="0"/>
          </a:xfrm>
          <a:prstGeom prst="line">
            <a:avLst/>
          </a:prstGeom>
          <a:noFill/>
          <a:ln w="50800">
            <a:solidFill>
              <a:srgbClr val="2E5A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971800"/>
            <a:ext cx="58521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Contexte : Home Credit Default Risk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Objectif : prédire le risque de défaut et intégrer un critère métier dans la décision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43800" y="114300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444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24D"/>
                </a:solidFill>
              </a:rPr>
              <a:t>Pipeline du projet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001000" y="1965960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5F8FD"/>
          </a:solidFill>
          <a:ln w="12700">
            <a:solidFill>
              <a:srgbClr val="CB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65592" y="20482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AAC"/>
                </a:solidFill>
              </a:rPr>
              <a:t>Données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52560" y="20482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dirty="0" smtClean="0">
                <a:solidFill>
                  <a:srgbClr val="1F2937"/>
                </a:solidFill>
              </a:rPr>
              <a:t>Analyse</a:t>
            </a:r>
            <a:r>
              <a:rPr lang="en-US" sz="1200" dirty="0" smtClean="0">
                <a:solidFill>
                  <a:srgbClr val="1F2937"/>
                </a:solidFill>
              </a:rPr>
              <a:t> </a:t>
            </a:r>
            <a:r>
              <a:rPr lang="fr-FR" sz="1200" dirty="0" smtClean="0">
                <a:solidFill>
                  <a:srgbClr val="1F2937"/>
                </a:solidFill>
              </a:rPr>
              <a:t>exploratoire</a:t>
            </a:r>
            <a:endParaRPr lang="fr-FR" sz="1200" dirty="0"/>
          </a:p>
        </p:txBody>
      </p:sp>
      <p:sp>
        <p:nvSpPr>
          <p:cNvPr id="11" name="Shape 9"/>
          <p:cNvSpPr/>
          <p:nvPr/>
        </p:nvSpPr>
        <p:spPr>
          <a:xfrm>
            <a:off x="8001000" y="2679192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5F8FD"/>
          </a:solidFill>
          <a:ln w="12700">
            <a:solidFill>
              <a:srgbClr val="CBD7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27614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AAC"/>
                </a:solidFill>
              </a:rPr>
              <a:t>Modèles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0" y="27614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Comparaison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3392424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FF4E5"/>
          </a:solidFill>
          <a:ln w="12700">
            <a:solidFill>
              <a:srgbClr val="F2C2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34747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Métier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52560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Seuil &amp; coût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4105656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5F8FD"/>
          </a:solidFill>
          <a:ln w="12700">
            <a:solidFill>
              <a:srgbClr val="CBD7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41879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AAC"/>
                </a:solidFill>
              </a:rPr>
              <a:t>MLOps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52560" y="4187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Tracking &amp; Registry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5724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9E"/>
                </a:solidFill>
              </a:rPr>
              <a:t>Présentation — 12 slides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1. Problématique métier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72768"/>
            <a:ext cx="109728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9344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OBJECTIF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011680"/>
            <a:ext cx="45262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Prédire la probabilité qu’un client ne rembourse pas son crédit, puis décider : crédit accordé ou refusé.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2104" y="2892490"/>
            <a:ext cx="4919472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r>
              <a:rPr lang="fr-FR" sz="1500" dirty="0">
                <a:solidFill>
                  <a:srgbClr val="1F2937"/>
                </a:solidFill>
              </a:rPr>
              <a:t>Le jeu de données </a:t>
            </a:r>
            <a:r>
              <a:rPr lang="fr-FR" sz="1500" dirty="0" smtClean="0">
                <a:solidFill>
                  <a:srgbClr val="1F2937"/>
                </a:solidFill>
              </a:rPr>
              <a:t>étant </a:t>
            </a:r>
            <a:r>
              <a:rPr lang="fr-FR" sz="1500" dirty="0">
                <a:solidFill>
                  <a:srgbClr val="1F2937"/>
                </a:solidFill>
              </a:rPr>
              <a:t>fortement déséquilibré : les clients à risque représentent une faible proportion de l’ensemble des clients. </a:t>
            </a:r>
            <a:endParaRPr lang="fr-FR" sz="1500" dirty="0" smtClean="0">
              <a:solidFill>
                <a:srgbClr val="1F2937"/>
              </a:solidFill>
            </a:endParaRPr>
          </a:p>
          <a:p>
            <a:endParaRPr lang="fr-FR" sz="1500" dirty="0">
              <a:solidFill>
                <a:srgbClr val="1F2937"/>
              </a:solidFill>
            </a:endParaRPr>
          </a:p>
          <a:p>
            <a:r>
              <a:rPr lang="fr-FR" sz="1500" dirty="0" smtClean="0">
                <a:solidFill>
                  <a:srgbClr val="1F2937"/>
                </a:solidFill>
              </a:rPr>
              <a:t>Il </a:t>
            </a:r>
            <a:r>
              <a:rPr lang="fr-FR" sz="1500" dirty="0">
                <a:solidFill>
                  <a:srgbClr val="1F2937"/>
                </a:solidFill>
              </a:rPr>
              <a:t>est donc nécessaire de prendre en compte ce déséquilibre lors de l’entraînement des modèles, notamment en pondérant les classes, et de privilégier des métriques adaptées comme le </a:t>
            </a:r>
            <a:r>
              <a:rPr lang="fr-FR" sz="1500" dirty="0" err="1">
                <a:solidFill>
                  <a:srgbClr val="1F2937"/>
                </a:solidFill>
              </a:rPr>
              <a:t>recall</a:t>
            </a:r>
            <a:r>
              <a:rPr lang="fr-FR" sz="1500" dirty="0">
                <a:solidFill>
                  <a:srgbClr val="1F2937"/>
                </a:solidFill>
              </a:rPr>
              <a:t>, le nombre de faux négatifs et de faux positifs, ainsi que le F1-score.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98099" y="4716467"/>
            <a:ext cx="1471438" cy="71323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47481" y="4841870"/>
            <a:ext cx="1225058" cy="15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Classe 0 — clients solvables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74329" y="5129626"/>
            <a:ext cx="1334560" cy="26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5AAC"/>
                </a:solidFill>
              </a:rPr>
              <a:t>91,93 %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3592938" y="4716467"/>
            <a:ext cx="1471438" cy="71323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2041" y="4841870"/>
            <a:ext cx="1225058" cy="15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Classe 1 — clients à risque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68889" y="5129626"/>
            <a:ext cx="1334560" cy="26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7706"/>
                </a:solidFill>
              </a:rPr>
              <a:t>8,07 %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8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FFDF8"/>
          </a:solidFill>
          <a:ln w="12700">
            <a:solidFill>
              <a:srgbClr val="F4D7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572768"/>
            <a:ext cx="1554480" cy="301752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609344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COÛT MÉTIER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057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3A"/>
                </a:solidFill>
              </a:rPr>
              <a:t>Faux négatif (FN)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404872"/>
            <a:ext cx="44805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Client à risque prédit solvable → crédit accordé → risque de perte en capital.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</a:rPr>
              <a:t>Faux positif (FP)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3593592"/>
            <a:ext cx="44805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Client solvable prédit risqué → crédit refusé → perte d’opportunité commerciale.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37960" y="4572000"/>
            <a:ext cx="4434840" cy="749808"/>
          </a:xfrm>
          <a:prstGeom prst="roundRect">
            <a:avLst>
              <a:gd name="adj" fmla="val 9756"/>
            </a:avLst>
          </a:prstGeom>
          <a:solidFill>
            <a:srgbClr val="FFF4E5"/>
          </a:solidFill>
          <a:ln w="12700">
            <a:solidFill>
              <a:srgbClr val="F2C2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47823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</a:rPr>
              <a:t>Coût métier = 10 × FN + 1 × FP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2</a:t>
            </a:r>
            <a:r>
              <a:rPr lang="en-US" sz="2800" b="1" dirty="0" smtClean="0">
                <a:solidFill>
                  <a:srgbClr val="17324D"/>
                </a:solidFill>
              </a:rPr>
              <a:t>. </a:t>
            </a:r>
            <a:r>
              <a:rPr lang="fr-FR" sz="2800" b="1" dirty="0" smtClean="0">
                <a:solidFill>
                  <a:srgbClr val="17324D"/>
                </a:solidFill>
              </a:rPr>
              <a:t>Analyse</a:t>
            </a:r>
            <a:r>
              <a:rPr lang="en-US" sz="2800" b="1" dirty="0" smtClean="0">
                <a:solidFill>
                  <a:srgbClr val="17324D"/>
                </a:solidFill>
              </a:rPr>
              <a:t> </a:t>
            </a:r>
            <a:r>
              <a:rPr lang="fr-FR" sz="2800" b="1" dirty="0" smtClean="0">
                <a:solidFill>
                  <a:srgbClr val="17324D"/>
                </a:solidFill>
              </a:rPr>
              <a:t>exploratoire</a:t>
            </a:r>
            <a:endParaRPr lang="fr-FR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212080" cy="4936374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72768"/>
            <a:ext cx="109728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9344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2E5AAC"/>
                </a:solidFill>
              </a:rPr>
              <a:t>Exploration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" y="2107692"/>
            <a:ext cx="4919472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79"/>
            <a:ext cx="5577840" cy="4936375"/>
          </a:xfrm>
          <a:prstGeom prst="roundRect">
            <a:avLst>
              <a:gd name="adj" fmla="val 1667"/>
            </a:avLst>
          </a:prstGeom>
          <a:solidFill>
            <a:srgbClr val="FFFDF8"/>
          </a:solidFill>
          <a:ln w="12700">
            <a:solidFill>
              <a:srgbClr val="F4D7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572768"/>
            <a:ext cx="1554480" cy="301752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609344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D97706"/>
                </a:solidFill>
              </a:rPr>
              <a:t>Outliers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4663919"/>
            <a:ext cx="4876338" cy="1395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fr-FR" sz="1200" dirty="0" smtClean="0">
                <a:solidFill>
                  <a:srgbClr val="1F2937"/>
                </a:solidFill>
              </a:rPr>
              <a:t>Certains </a:t>
            </a:r>
            <a:r>
              <a:rPr lang="fr-FR" sz="1200" dirty="0" err="1" smtClean="0">
                <a:solidFill>
                  <a:srgbClr val="1F2937"/>
                </a:solidFill>
              </a:rPr>
              <a:t>outliers</a:t>
            </a:r>
            <a:r>
              <a:rPr lang="fr-FR" sz="1200" dirty="0" smtClean="0">
                <a:solidFill>
                  <a:srgbClr val="1F2937"/>
                </a:solidFill>
              </a:rPr>
              <a:t> se sont révélés être des valeurs sentinelles, comme DAYS_EMPLOYED, Elles ont été identifiées puis traitées séparément afin de ne pas les considérer comme de vraies valeurs extrêmes.</a:t>
            </a:r>
          </a:p>
          <a:p>
            <a:pPr marL="0" indent="0">
              <a:buNone/>
            </a:pPr>
            <a:endParaRPr lang="fr-FR" sz="1200" dirty="0">
              <a:solidFill>
                <a:srgbClr val="1F2937"/>
              </a:solidFill>
            </a:endParaRPr>
          </a:p>
          <a:p>
            <a:r>
              <a:rPr lang="fr-FR" sz="1200" dirty="0"/>
              <a:t>D’autres valeurs, comme certaines observations très élevées de </a:t>
            </a:r>
            <a:r>
              <a:rPr lang="fr-FR" sz="1200" dirty="0" smtClean="0">
                <a:solidFill>
                  <a:srgbClr val="1F2937"/>
                </a:solidFill>
              </a:rPr>
              <a:t>AMT_INCOME_TOTAL </a:t>
            </a:r>
            <a:r>
              <a:rPr lang="fr-FR" sz="1200" dirty="0"/>
              <a:t>correspondaient à de véritables </a:t>
            </a:r>
            <a:r>
              <a:rPr lang="fr-FR" sz="1200" dirty="0" err="1"/>
              <a:t>outliers</a:t>
            </a:r>
            <a:r>
              <a:rPr lang="fr-FR" sz="1200" dirty="0"/>
              <a:t>. Après vérification, elles ont été supprimées du jeu de données.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4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300" dirty="0" smtClean="0">
                <a:solidFill>
                  <a:srgbClr val="5F6B76"/>
                </a:solidFill>
              </a:rPr>
              <a:t>Notebook 01 - Exploration </a:t>
            </a:r>
            <a:r>
              <a:rPr lang="fr-FR" sz="1300" dirty="0">
                <a:solidFill>
                  <a:srgbClr val="5F6B76"/>
                </a:solidFill>
              </a:rPr>
              <a:t>et nettoyage de </a:t>
            </a:r>
            <a:r>
              <a:rPr lang="fr-FR" sz="1300" dirty="0" smtClean="0">
                <a:solidFill>
                  <a:srgbClr val="5F6B76"/>
                </a:solidFill>
              </a:rPr>
              <a:t>application_train.csv </a:t>
            </a:r>
            <a:r>
              <a:rPr lang="fr-FR" sz="1300" dirty="0">
                <a:solidFill>
                  <a:srgbClr val="5F6B76"/>
                </a:solidFill>
              </a:rPr>
              <a:t>et </a:t>
            </a:r>
            <a:r>
              <a:rPr lang="fr-FR" sz="1300" dirty="0" smtClean="0">
                <a:solidFill>
                  <a:srgbClr val="5F6B76"/>
                </a:solidFill>
              </a:rPr>
              <a:t>application_test.csv</a:t>
            </a:r>
            <a:endParaRPr lang="en-US" sz="1300" dirty="0"/>
          </a:p>
        </p:txBody>
      </p:sp>
      <p:sp>
        <p:nvSpPr>
          <p:cNvPr id="26" name="Text 6"/>
          <p:cNvSpPr/>
          <p:nvPr/>
        </p:nvSpPr>
        <p:spPr>
          <a:xfrm>
            <a:off x="834774" y="3911652"/>
            <a:ext cx="4919472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fr-FR" sz="1200" dirty="0">
                <a:solidFill>
                  <a:srgbClr val="1F2937"/>
                </a:solidFill>
              </a:rPr>
              <a:t>Distribution des 10 variables les plus corrélées selon la cible</a:t>
            </a:r>
          </a:p>
          <a:p>
            <a:endParaRPr lang="fr-FR" sz="1500" dirty="0" smtClean="0">
              <a:solidFill>
                <a:srgbClr val="1F2937"/>
              </a:solidFill>
            </a:endParaRPr>
          </a:p>
          <a:p>
            <a:endParaRPr lang="en-US" sz="15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76" y="4547160"/>
            <a:ext cx="4829184" cy="1622762"/>
          </a:xfrm>
          <a:prstGeom prst="rect">
            <a:avLst/>
          </a:prstGeom>
        </p:spPr>
      </p:pic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782681" y="2048255"/>
            <a:ext cx="464017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dirty="0">
                <a:solidFill>
                  <a:srgbClr val="1F2937"/>
                </a:solidFill>
              </a:rPr>
              <a:t>Nombre de lignes : 307 511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dirty="0">
                <a:solidFill>
                  <a:srgbClr val="1F2937"/>
                </a:solidFill>
              </a:rPr>
              <a:t>Nombre de colonnes : 122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dirty="0">
                <a:solidFill>
                  <a:srgbClr val="1F2937"/>
                </a:solidFill>
              </a:rPr>
              <a:t>Un nombre important de valeurs manquantes a été identifié dans certaines colonnes. Une imputation par la médiane sera appliquée aux variables numériques concernées.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dirty="0">
                <a:solidFill>
                  <a:srgbClr val="1F2937"/>
                </a:solidFill>
              </a:rPr>
              <a:t>Aucun doublon n’a été détecté.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dirty="0">
                <a:solidFill>
                  <a:srgbClr val="1F2937"/>
                </a:solidFill>
              </a:rPr>
              <a:t>Plusieurs types de données sont présents. Les variables catégorielles ont été transformées en variables numériques à l’aide du One-Hot </a:t>
            </a:r>
            <a:r>
              <a:rPr lang="fr-FR" altLang="fr-FR" sz="1200" dirty="0" err="1">
                <a:solidFill>
                  <a:srgbClr val="1F2937"/>
                </a:solidFill>
              </a:rPr>
              <a:t>Encoding</a:t>
            </a:r>
            <a:r>
              <a:rPr lang="fr-FR" altLang="fr-FR" sz="1200" dirty="0">
                <a:solidFill>
                  <a:srgbClr val="1F2937"/>
                </a:solidFill>
              </a:rPr>
              <a:t>, tandis que les variables textuelles binaires ont été encodées en valeurs numériques. </a:t>
            </a:r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446" y="2048255"/>
            <a:ext cx="5447154" cy="1093425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894" y="3240891"/>
            <a:ext cx="5420985" cy="115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486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274320" y="1234440"/>
            <a:ext cx="9486274" cy="1044630"/>
          </a:xfrm>
          <a:prstGeom prst="roundRect">
            <a:avLst/>
          </a:prstGeom>
          <a:solidFill>
            <a:srgbClr val="F3F5F8">
              <a:alpha val="95000"/>
            </a:srgbClr>
          </a:solidFill>
          <a:ln w="17780">
            <a:solidFill>
              <a:srgbClr val="AAB4C0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3</a:t>
            </a:r>
            <a:r>
              <a:rPr lang="en-US" sz="2800" b="1" dirty="0" smtClean="0">
                <a:solidFill>
                  <a:srgbClr val="17324D"/>
                </a:solidFill>
              </a:rPr>
              <a:t>. </a:t>
            </a:r>
            <a:r>
              <a:rPr lang="en-US" sz="2800" b="1" dirty="0">
                <a:solidFill>
                  <a:srgbClr val="17324D"/>
                </a:solidFill>
              </a:rPr>
              <a:t>Préparation et </a:t>
            </a:r>
            <a:r>
              <a:rPr lang="en-US" sz="2800" b="1" dirty="0" smtClean="0">
                <a:solidFill>
                  <a:srgbClr val="17324D"/>
                </a:solidFill>
              </a:rPr>
              <a:t>jointure </a:t>
            </a:r>
            <a:r>
              <a:rPr lang="en-US" sz="2800" b="1" dirty="0">
                <a:solidFill>
                  <a:srgbClr val="17324D"/>
                </a:solidFill>
              </a:rPr>
              <a:t>des données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Conserver une granularité stable : une ligne = un client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1856233"/>
            <a:ext cx="10972800" cy="471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fr-FR" sz="1400" dirty="0" smtClean="0"/>
              <a:t>Les </a:t>
            </a:r>
            <a:r>
              <a:rPr lang="fr-FR" sz="1400" dirty="0"/>
              <a:t>notebook </a:t>
            </a:r>
            <a:r>
              <a:rPr lang="fr-FR" sz="1400" dirty="0" smtClean="0"/>
              <a:t>02 et 03 </a:t>
            </a:r>
            <a:r>
              <a:rPr lang="fr-FR" sz="1400" dirty="0"/>
              <a:t>enrichit les données clients avec l'historique de leurs demandes de crédit précédentes. </a:t>
            </a:r>
            <a:endParaRPr lang="fr-FR" sz="1400" dirty="0" smtClean="0"/>
          </a:p>
          <a:p>
            <a:r>
              <a:rPr lang="fr-FR" sz="1400" dirty="0" smtClean="0"/>
              <a:t>Le </a:t>
            </a:r>
            <a:r>
              <a:rPr lang="fr-FR" sz="1400" dirty="0"/>
              <a:t>principe essentiel est de ne jamais joindre directement une table détaillée contenant plusieurs lignes par crédit. </a:t>
            </a:r>
            <a:endParaRPr lang="fr-FR" sz="1400" dirty="0" smtClean="0"/>
          </a:p>
          <a:p>
            <a:r>
              <a:rPr lang="fr-FR" sz="1400" dirty="0" smtClean="0"/>
              <a:t>Cette </a:t>
            </a:r>
            <a:r>
              <a:rPr lang="fr-FR" sz="1400" dirty="0"/>
              <a:t>opération multiplierait les lignes de </a:t>
            </a:r>
            <a:r>
              <a:rPr lang="fr-FR" sz="1400" dirty="0" err="1"/>
              <a:t>previous_application</a:t>
            </a:r>
            <a:r>
              <a:rPr lang="fr-FR" sz="1400" dirty="0"/>
              <a:t> et fausserait les </a:t>
            </a:r>
            <a:r>
              <a:rPr lang="fr-FR" sz="1400" dirty="0" smtClean="0"/>
              <a:t>modélisations,</a:t>
            </a:r>
          </a:p>
          <a:p>
            <a:endParaRPr lang="fr-FR" sz="1400" dirty="0"/>
          </a:p>
          <a:p>
            <a:r>
              <a:rPr lang="fr-FR" sz="1400" dirty="0"/>
              <a:t/>
            </a:r>
            <a:br>
              <a:rPr lang="fr-FR" sz="1400" dirty="0"/>
            </a:br>
            <a:endParaRPr lang="fr-FR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454561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F5F8FD"/>
          </a:solidFill>
          <a:ln w="12700">
            <a:solidFill>
              <a:srgbClr val="C6D4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55729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Tables historiques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3021489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plusieurs lignes / client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63240" y="2811177"/>
            <a:ext cx="594360" cy="347472"/>
          </a:xfrm>
          <a:prstGeom prst="chevron">
            <a:avLst/>
          </a:prstGeom>
          <a:solidFill>
            <a:srgbClr val="5E82C8"/>
          </a:solidFill>
          <a:ln w="12700">
            <a:solidFill>
              <a:srgbClr val="5E82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4760" y="2454561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F7FBF9"/>
          </a:solidFill>
          <a:ln w="12700">
            <a:solidFill>
              <a:srgbClr val="BFD9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2655729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855A"/>
                </a:solidFill>
              </a:rPr>
              <a:t>Agrégations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986784" y="3021489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5F6B76"/>
                </a:solidFill>
              </a:rPr>
              <a:t>somme • moyenne • </a:t>
            </a:r>
            <a:r>
              <a:rPr lang="en-US" sz="1080" dirty="0" smtClean="0">
                <a:solidFill>
                  <a:srgbClr val="5F6B76"/>
                </a:solidFill>
              </a:rPr>
              <a:t>feature engineering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172200" y="2811177"/>
            <a:ext cx="594360" cy="347472"/>
          </a:xfrm>
          <a:prstGeom prst="chevron">
            <a:avLst/>
          </a:prstGeom>
          <a:solidFill>
            <a:srgbClr val="5E82C8"/>
          </a:solidFill>
          <a:ln w="12700">
            <a:solidFill>
              <a:srgbClr val="5E82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73184" y="2454561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2700">
            <a:solidFill>
              <a:srgbClr val="F0D3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74352" y="2655729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smtClean="0">
                <a:solidFill>
                  <a:srgbClr val="D97706"/>
                </a:solidFill>
              </a:rPr>
              <a:t>Nouvelle table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83496" y="3021488"/>
            <a:ext cx="1828800" cy="436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20" dirty="0" smtClean="0">
                <a:solidFill>
                  <a:srgbClr val="5F6B76"/>
                </a:solidFill>
              </a:rPr>
              <a:t>Enrichie des données historique + de </a:t>
            </a:r>
            <a:r>
              <a:rPr lang="fr-FR" sz="1120" dirty="0" err="1" smtClean="0">
                <a:solidFill>
                  <a:srgbClr val="5F6B76"/>
                </a:solidFill>
              </a:rPr>
              <a:t>feature</a:t>
            </a:r>
            <a:endParaRPr lang="fr-FR" sz="1120" dirty="0"/>
          </a:p>
        </p:txBody>
      </p:sp>
      <p:sp>
        <p:nvSpPr>
          <p:cNvPr id="16" name="Shape 14"/>
          <p:cNvSpPr/>
          <p:nvPr/>
        </p:nvSpPr>
        <p:spPr>
          <a:xfrm>
            <a:off x="8594667" y="2811177"/>
            <a:ext cx="594360" cy="347472"/>
          </a:xfrm>
          <a:prstGeom prst="chevron">
            <a:avLst/>
          </a:prstGeom>
          <a:solidFill>
            <a:srgbClr val="5E82C8"/>
          </a:solidFill>
          <a:ln w="12700">
            <a:solidFill>
              <a:srgbClr val="5E82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2510949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F5F8FD"/>
          </a:solidFill>
          <a:ln w="12700">
            <a:solidFill>
              <a:srgbClr val="C6D4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2730405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AAC"/>
                </a:solidFill>
              </a:rPr>
              <a:t>LEFT JOIN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3087021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 smtClean="0">
                <a:solidFill>
                  <a:srgbClr val="5F6B76"/>
                </a:solidFill>
              </a:rPr>
              <a:t>Ex : sur </a:t>
            </a:r>
            <a:r>
              <a:rPr lang="en-US" sz="1080" dirty="0">
                <a:solidFill>
                  <a:srgbClr val="5F6B76"/>
                </a:solidFill>
              </a:rPr>
              <a:t>SK_ID_CURR</a:t>
            </a:r>
            <a:endParaRPr lang="en-US" sz="108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5" name="Imag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965" y="3756937"/>
            <a:ext cx="8182629" cy="26281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3</a:t>
            </a:r>
            <a:r>
              <a:rPr lang="en-US" sz="2800" b="1" dirty="0" smtClean="0">
                <a:solidFill>
                  <a:srgbClr val="17324D"/>
                </a:solidFill>
              </a:rPr>
              <a:t>. </a:t>
            </a:r>
            <a:r>
              <a:rPr lang="en-US" sz="2800" b="1" dirty="0">
                <a:solidFill>
                  <a:srgbClr val="17324D"/>
                </a:solidFill>
              </a:rPr>
              <a:t>Préparation et </a:t>
            </a:r>
            <a:r>
              <a:rPr lang="en-US" sz="2800" b="1" dirty="0" smtClean="0">
                <a:solidFill>
                  <a:srgbClr val="17324D"/>
                </a:solidFill>
              </a:rPr>
              <a:t>jointure </a:t>
            </a:r>
            <a:r>
              <a:rPr lang="en-US" sz="2800" b="1" dirty="0">
                <a:solidFill>
                  <a:srgbClr val="17324D"/>
                </a:solidFill>
              </a:rPr>
              <a:t>des données</a:t>
            </a:r>
            <a:endParaRPr lang="en-US" sz="2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28" y="959360"/>
            <a:ext cx="11103572" cy="527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66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3</a:t>
            </a:r>
            <a:r>
              <a:rPr lang="en-US" sz="2800" b="1" dirty="0" smtClean="0">
                <a:solidFill>
                  <a:srgbClr val="17324D"/>
                </a:solidFill>
              </a:rPr>
              <a:t>. </a:t>
            </a:r>
            <a:r>
              <a:rPr lang="en-US" sz="2800" b="1" dirty="0">
                <a:solidFill>
                  <a:srgbClr val="17324D"/>
                </a:solidFill>
              </a:rPr>
              <a:t>Préparation et </a:t>
            </a:r>
            <a:r>
              <a:rPr lang="en-US" sz="2800" b="1" dirty="0" smtClean="0">
                <a:solidFill>
                  <a:srgbClr val="17324D"/>
                </a:solidFill>
              </a:rPr>
              <a:t>jointure </a:t>
            </a:r>
            <a:r>
              <a:rPr lang="en-US" sz="2800" b="1" dirty="0">
                <a:solidFill>
                  <a:srgbClr val="17324D"/>
                </a:solidFill>
              </a:rPr>
              <a:t>des données</a:t>
            </a:r>
            <a:endParaRPr lang="en-US" sz="2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592" y="1773381"/>
            <a:ext cx="9506084" cy="379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5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smtClean="0">
                <a:solidFill>
                  <a:srgbClr val="17324D"/>
                </a:solidFill>
              </a:rPr>
              <a:t>4</a:t>
            </a:r>
            <a:r>
              <a:rPr lang="en-US" sz="2800" b="1" dirty="0">
                <a:solidFill>
                  <a:srgbClr val="17324D"/>
                </a:solidFill>
              </a:rPr>
              <a:t>. </a:t>
            </a:r>
            <a:r>
              <a:rPr lang="en-US" sz="2800" b="1" dirty="0" err="1">
                <a:solidFill>
                  <a:srgbClr val="17324D"/>
                </a:solidFill>
              </a:rPr>
              <a:t>Contrôles</a:t>
            </a:r>
            <a:r>
              <a:rPr lang="en-US" sz="2800" b="1" dirty="0">
                <a:solidFill>
                  <a:srgbClr val="17324D"/>
                </a:solidFill>
              </a:rPr>
              <a:t> </a:t>
            </a:r>
            <a:r>
              <a:rPr lang="en-US" sz="2800" b="1" dirty="0" err="1">
                <a:solidFill>
                  <a:srgbClr val="17324D"/>
                </a:solidFill>
              </a:rPr>
              <a:t>avant</a:t>
            </a:r>
            <a:r>
              <a:rPr lang="en-US" sz="2800" b="1" dirty="0">
                <a:solidFill>
                  <a:srgbClr val="17324D"/>
                </a:solidFill>
              </a:rPr>
              <a:t> </a:t>
            </a:r>
            <a:r>
              <a:rPr lang="en-US" sz="2800" b="1" dirty="0" err="1">
                <a:solidFill>
                  <a:srgbClr val="17324D"/>
                </a:solidFill>
              </a:rPr>
              <a:t>modélisation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dirty="0" smtClean="0">
                <a:solidFill>
                  <a:srgbClr val="5F6B76"/>
                </a:solidFill>
              </a:rPr>
              <a:t>Notebook 04 - Nettoyage, encodage et tests de versions du nouveau </a:t>
            </a:r>
            <a:r>
              <a:rPr lang="fr-FR" sz="1300" dirty="0" err="1" smtClean="0">
                <a:solidFill>
                  <a:srgbClr val="5F6B76"/>
                </a:solidFill>
              </a:rPr>
              <a:t>dataset</a:t>
            </a:r>
            <a:r>
              <a:rPr lang="fr-FR" sz="1300" dirty="0" smtClean="0">
                <a:solidFill>
                  <a:srgbClr val="5F6B76"/>
                </a:solidFill>
              </a:rPr>
              <a:t> enrichi avant modélisation</a:t>
            </a:r>
            <a:endParaRPr lang="fr-FR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40680" cy="497332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00200"/>
            <a:ext cx="141732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36776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PRÉTRAITEMENT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743792"/>
            <a:ext cx="457200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fr-FR" sz="1200" b="1" dirty="0" smtClean="0"/>
              <a:t>Vérification </a:t>
            </a:r>
            <a:r>
              <a:rPr lang="fr-FR" sz="1200" b="1" dirty="0"/>
              <a:t>que les </a:t>
            </a:r>
            <a:r>
              <a:rPr lang="fr-FR" sz="1200" b="1" dirty="0" err="1"/>
              <a:t>datasets</a:t>
            </a:r>
            <a:r>
              <a:rPr lang="fr-FR" sz="1200" b="1" dirty="0"/>
              <a:t> finaux sont prêts pour la </a:t>
            </a:r>
            <a:r>
              <a:rPr lang="fr-FR" sz="1200" b="1" dirty="0" smtClean="0"/>
              <a:t>modélisation.</a:t>
            </a:r>
          </a:p>
          <a:p>
            <a:endParaRPr lang="fr-FR" sz="1200" dirty="0" smtClean="0"/>
          </a:p>
          <a:p>
            <a:r>
              <a:rPr lang="fr-FR" sz="1200" dirty="0" smtClean="0"/>
              <a:t>- Split train/test chargement aperçu</a:t>
            </a:r>
          </a:p>
          <a:p>
            <a:r>
              <a:rPr lang="fr-FR" sz="1200" dirty="0" smtClean="0"/>
              <a:t>- Les </a:t>
            </a:r>
            <a:r>
              <a:rPr lang="fr-FR" sz="1200" dirty="0"/>
              <a:t>variables doivent être numériques ou </a:t>
            </a:r>
            <a:r>
              <a:rPr lang="fr-FR" sz="1200" dirty="0" smtClean="0"/>
              <a:t>booléennes et non infinie</a:t>
            </a:r>
          </a:p>
          <a:p>
            <a:r>
              <a:rPr lang="fr-FR" sz="1200" dirty="0" smtClean="0"/>
              <a:t>- Importance d’écart des valeurs manquantes entre train et test</a:t>
            </a:r>
          </a:p>
          <a:p>
            <a:r>
              <a:rPr lang="fr-FR" sz="1200" dirty="0" smtClean="0"/>
              <a:t>- L'imputation </a:t>
            </a:r>
            <a:r>
              <a:rPr lang="fr-FR" sz="1200" dirty="0"/>
              <a:t>devra être intégrée au futur pipeline et ajustée uniquement sur le train.</a:t>
            </a:r>
          </a:p>
          <a:p>
            <a:r>
              <a:rPr lang="fr-FR" sz="1200" dirty="0" smtClean="0"/>
              <a:t>- Détection des variables constante ou quasi constante, peut déstabiliser le modèle.</a:t>
            </a:r>
            <a:endParaRPr lang="fr-FR" sz="1200" dirty="0"/>
          </a:p>
          <a:p>
            <a:endParaRPr lang="fr-FR" sz="1200" dirty="0" smtClean="0"/>
          </a:p>
          <a:p>
            <a:endParaRPr lang="fr-FR" sz="1200" dirty="0" smtClean="0"/>
          </a:p>
          <a:p>
            <a:endParaRPr lang="fr-FR" sz="1200" dirty="0" smtClean="0"/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5166360" cy="4973320"/>
          </a:xfrm>
          <a:prstGeom prst="roundRect">
            <a:avLst>
              <a:gd name="adj" fmla="val 1649"/>
            </a:avLst>
          </a:prstGeom>
          <a:solidFill>
            <a:srgbClr val="F9FBFE"/>
          </a:solidFill>
          <a:ln w="12700">
            <a:solidFill>
              <a:srgbClr val="C9D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600200"/>
            <a:ext cx="214884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636776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2E5AAC"/>
                </a:solidFill>
              </a:rPr>
              <a:t>REFLEXION FEATURE ENGINEERING FINAL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23" y="4351418"/>
            <a:ext cx="5345246" cy="812230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852" y="2103489"/>
            <a:ext cx="4938815" cy="2036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4. Stratégie de modélisation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Comparer plusieurs familles de modèles avec une validation croisée stratifiée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13232" y="1508760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Régression logistique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2319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5F6B76"/>
                </a:solidFill>
              </a:rPr>
              <a:t>baseline simple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3502152" y="1508760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7556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Random Forest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03320" y="222319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5F6B76"/>
                </a:solidFill>
              </a:rPr>
              <a:t>ensemble d’arbres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6291072" y="1508760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7556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XGBoost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222319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5F6B76"/>
                </a:solidFill>
              </a:rPr>
              <a:t>gradient boosting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9079992" y="1508760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EFF7F3"/>
          </a:solidFill>
          <a:ln w="12700">
            <a:solidFill>
              <a:srgbClr val="B9D9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7556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855A"/>
                </a:solidFill>
              </a:rPr>
              <a:t>LightGBM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281160" y="222319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5F6B76"/>
                </a:solidFill>
              </a:rPr>
              <a:t>gradient boosting efficace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713232" y="2880360"/>
            <a:ext cx="5230368" cy="3136392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" y="3154680"/>
            <a:ext cx="114300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191256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611880"/>
            <a:ext cx="4526280" cy="19853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fr-FR" sz="1480" dirty="0" err="1" smtClean="0">
                <a:solidFill>
                  <a:srgbClr val="1F2937"/>
                </a:solidFill>
              </a:rPr>
              <a:t>StratifiedKFold</a:t>
            </a:r>
            <a:r>
              <a:rPr lang="fr-FR" sz="1480" dirty="0" smtClean="0">
                <a:solidFill>
                  <a:srgbClr val="1F2937"/>
                </a:solidFill>
              </a:rPr>
              <a:t> à 5 </a:t>
            </a:r>
            <a:r>
              <a:rPr lang="fr-FR" sz="1480" dirty="0" err="1" smtClean="0">
                <a:solidFill>
                  <a:srgbClr val="1F2937"/>
                </a:solidFill>
              </a:rPr>
              <a:t>folds</a:t>
            </a:r>
            <a:r>
              <a:rPr lang="fr-FR" sz="1480" dirty="0" smtClean="0">
                <a:solidFill>
                  <a:srgbClr val="1F2937"/>
                </a:solidFill>
              </a:rPr>
              <a:t> pour conserver la proportion des classes et contrôler la robustesse.</a:t>
            </a:r>
            <a:endParaRPr lang="fr-FR" sz="1480" dirty="0" smtClean="0"/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Même protocole pour tous les modèles afin de comparer équitablement.</a:t>
            </a:r>
            <a:endParaRPr lang="fr-FR" sz="1480" dirty="0" smtClean="0"/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Le jeu final de 20 % reste à l’écart jusqu’à l’évaluation finale.</a:t>
            </a:r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Mise en place de </a:t>
            </a:r>
            <a:r>
              <a:rPr lang="fr-FR" sz="1480" dirty="0" err="1" smtClean="0">
                <a:solidFill>
                  <a:srgbClr val="1F2937"/>
                </a:solidFill>
              </a:rPr>
              <a:t>Mlflow</a:t>
            </a:r>
            <a:r>
              <a:rPr lang="fr-FR" sz="1480" dirty="0" smtClean="0">
                <a:solidFill>
                  <a:srgbClr val="1F2937"/>
                </a:solidFill>
              </a:rPr>
              <a:t> pour </a:t>
            </a:r>
            <a:r>
              <a:rPr lang="fr-FR" sz="1480" dirty="0" err="1" smtClean="0">
                <a:solidFill>
                  <a:srgbClr val="1F2937"/>
                </a:solidFill>
              </a:rPr>
              <a:t>verssioning</a:t>
            </a:r>
            <a:endParaRPr lang="fr-FR" sz="1480" dirty="0" smtClean="0">
              <a:solidFill>
                <a:srgbClr val="1F2937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Test avec et sans </a:t>
            </a:r>
            <a:r>
              <a:rPr lang="fr-FR" sz="1480" dirty="0" err="1" smtClean="0">
                <a:solidFill>
                  <a:srgbClr val="1F2937"/>
                </a:solidFill>
              </a:rPr>
              <a:t>weighting</a:t>
            </a:r>
            <a:r>
              <a:rPr lang="fr-FR" sz="1480" dirty="0" smtClean="0">
                <a:solidFill>
                  <a:srgbClr val="1F2937"/>
                </a:solidFill>
              </a:rPr>
              <a:t> = </a:t>
            </a:r>
            <a:r>
              <a:rPr lang="fr-FR" sz="1480" dirty="0" err="1" smtClean="0">
                <a:solidFill>
                  <a:srgbClr val="1F2937"/>
                </a:solidFill>
              </a:rPr>
              <a:t>balanced</a:t>
            </a:r>
            <a:endParaRPr lang="fr-FR" sz="1480" dirty="0"/>
          </a:p>
        </p:txBody>
      </p:sp>
      <p:sp>
        <p:nvSpPr>
          <p:cNvPr id="20" name="Shape 18"/>
          <p:cNvSpPr/>
          <p:nvPr/>
        </p:nvSpPr>
        <p:spPr>
          <a:xfrm>
            <a:off x="6217920" y="2834640"/>
            <a:ext cx="5276088" cy="3136392"/>
          </a:xfrm>
          <a:prstGeom prst="roundRect">
            <a:avLst>
              <a:gd name="adj" fmla="val 2963"/>
            </a:avLst>
          </a:prstGeom>
          <a:solidFill>
            <a:srgbClr val="FFFDF8"/>
          </a:solidFill>
          <a:ln w="12700">
            <a:solidFill>
              <a:srgbClr val="F0D3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154680"/>
            <a:ext cx="1143000" cy="301752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3191256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MÉTRIQUES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3952" y="3611880"/>
            <a:ext cx="45262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Contrôle : ROC AUC, </a:t>
            </a:r>
            <a:r>
              <a:rPr lang="fr-FR" sz="1480" dirty="0" err="1" smtClean="0">
                <a:solidFill>
                  <a:srgbClr val="1F2937"/>
                </a:solidFill>
              </a:rPr>
              <a:t>recall</a:t>
            </a:r>
            <a:r>
              <a:rPr lang="fr-FR" sz="1480" dirty="0" smtClean="0">
                <a:solidFill>
                  <a:srgbClr val="1F2937"/>
                </a:solidFill>
              </a:rPr>
              <a:t>, F1-score et FN + FP</a:t>
            </a:r>
            <a:endParaRPr lang="fr-FR" sz="1480" dirty="0" smtClean="0"/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Le meilleur modèle est celui qui généralise tout en minimisant le coût métier.</a:t>
            </a:r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Visualisation du meilleur modèle dans </a:t>
            </a:r>
            <a:r>
              <a:rPr lang="fr-FR" sz="1480" dirty="0" err="1" smtClean="0">
                <a:solidFill>
                  <a:srgbClr val="1F2937"/>
                </a:solidFill>
              </a:rPr>
              <a:t>MLflow</a:t>
            </a:r>
            <a:endParaRPr lang="fr-FR" sz="1480" dirty="0"/>
          </a:p>
        </p:txBody>
      </p:sp>
      <p:sp>
        <p:nvSpPr>
          <p:cNvPr id="26" name="Text 24"/>
          <p:cNvSpPr/>
          <p:nvPr/>
        </p:nvSpPr>
        <p:spPr>
          <a:xfrm>
            <a:off x="3950208" y="6099048"/>
            <a:ext cx="426110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Capture notebook / MLflow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023360" y="6684264"/>
            <a:ext cx="411480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Comparaison des modèles de base et métriques CV.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4. Stratégie de modélisation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Comparer plusieurs familles de modèles avec une validation croisée stratifiée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50208" y="6099048"/>
            <a:ext cx="426110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Capture notebook / MLflow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023360" y="6684264"/>
            <a:ext cx="411480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Comparaison des modèles de base et métriques CV.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74" y="1814015"/>
            <a:ext cx="11610969" cy="363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72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5. Pourquoi LightGBM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Le modèle retenu offre le meilleur compromis entre performance, robustesse et coût métier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62424" y="132588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8456" y="1618488"/>
            <a:ext cx="150876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1608" y="1655064"/>
            <a:ext cx="1362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CHOIX DU MODÈLE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8456" y="2084832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</a:rPr>
              <a:t>LightGBM est retenu après comparaison des modèles de base.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18456" y="2788920"/>
            <a:ext cx="45720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1F2937"/>
                </a:solidFill>
              </a:rPr>
              <a:t>Capable de modéliser des relations non linéaires.</a:t>
            </a:r>
            <a:endParaRPr lang="en-US" sz="1530" dirty="0"/>
          </a:p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1F2937"/>
                </a:solidFill>
              </a:rPr>
              <a:t>Adapté à un grand nombre de variables.</a:t>
            </a:r>
            <a:endParaRPr lang="en-US" sz="1530" dirty="0"/>
          </a:p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1F2937"/>
                </a:solidFill>
              </a:rPr>
              <a:t>Gestion du déséquilibre via scale_pos_weight.</a:t>
            </a:r>
            <a:endParaRPr lang="en-US" sz="1530" dirty="0"/>
          </a:p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1F2937"/>
                </a:solidFill>
              </a:rPr>
              <a:t>Rapide à entraîner, donc adapté à une recherche d’hyperparamètres.</a:t>
            </a:r>
            <a:endParaRPr lang="en-US" sz="15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19" name="Shape 18"/>
          <p:cNvSpPr/>
          <p:nvPr/>
        </p:nvSpPr>
        <p:spPr>
          <a:xfrm>
            <a:off x="6534965" y="1325880"/>
            <a:ext cx="5276088" cy="4526280"/>
          </a:xfrm>
          <a:prstGeom prst="roundRect">
            <a:avLst>
              <a:gd name="adj" fmla="val 2963"/>
            </a:avLst>
          </a:prstGeom>
          <a:solidFill>
            <a:srgbClr val="FFFDF8"/>
          </a:solidFill>
          <a:ln w="12700">
            <a:solidFill>
              <a:srgbClr val="F0D39E"/>
            </a:solidFill>
            <a:prstDash val="solid"/>
          </a:ln>
        </p:spPr>
      </p:sp>
      <p:sp>
        <p:nvSpPr>
          <p:cNvPr id="20" name="Shape 19"/>
          <p:cNvSpPr/>
          <p:nvPr/>
        </p:nvSpPr>
        <p:spPr>
          <a:xfrm>
            <a:off x="6742610" y="1819655"/>
            <a:ext cx="1556840" cy="340087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21" name="Text 20"/>
          <p:cNvSpPr/>
          <p:nvPr/>
        </p:nvSpPr>
        <p:spPr>
          <a:xfrm>
            <a:off x="6790362" y="1824481"/>
            <a:ext cx="1483688" cy="303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D97706"/>
                </a:solidFill>
              </a:rPr>
              <a:t>VERSION DATA SET</a:t>
            </a:r>
            <a:endParaRPr lang="en-US" sz="1100" dirty="0"/>
          </a:p>
        </p:txBody>
      </p:sp>
      <p:sp>
        <p:nvSpPr>
          <p:cNvPr id="22" name="Text 21"/>
          <p:cNvSpPr/>
          <p:nvPr/>
        </p:nvSpPr>
        <p:spPr>
          <a:xfrm>
            <a:off x="6704781" y="2808966"/>
            <a:ext cx="4709160" cy="204540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Version </a:t>
            </a:r>
            <a:r>
              <a:rPr lang="fr-FR" sz="1480" dirty="0" err="1" smtClean="0">
                <a:solidFill>
                  <a:srgbClr val="1F2937"/>
                </a:solidFill>
              </a:rPr>
              <a:t>feature</a:t>
            </a:r>
            <a:r>
              <a:rPr lang="fr-FR" sz="1480" dirty="0" smtClean="0">
                <a:solidFill>
                  <a:srgbClr val="1F2937"/>
                </a:solidFill>
              </a:rPr>
              <a:t> engineering</a:t>
            </a:r>
            <a:endParaRPr lang="fr-FR" sz="1480" dirty="0" smtClean="0"/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Version avec 7colonnes constantes </a:t>
            </a:r>
          </a:p>
          <a:p>
            <a:pPr marL="177800" indent="-177800">
              <a:buSzPct val="100000"/>
              <a:buChar char="•"/>
            </a:pPr>
            <a:r>
              <a:rPr lang="fr-FR" sz="1480" dirty="0">
                <a:solidFill>
                  <a:srgbClr val="1F2937"/>
                </a:solidFill>
              </a:rPr>
              <a:t>Version avec </a:t>
            </a:r>
            <a:r>
              <a:rPr lang="fr-FR" sz="1480" dirty="0" smtClean="0">
                <a:solidFill>
                  <a:srgbClr val="1F2937"/>
                </a:solidFill>
              </a:rPr>
              <a:t>30 colonnes quasi constantes</a:t>
            </a:r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Version 2 colonnes de bureau données manquantes</a:t>
            </a:r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Version avec toutes les modifications </a:t>
            </a:r>
            <a:endParaRPr lang="fr-FR" sz="1480" dirty="0">
              <a:solidFill>
                <a:srgbClr val="1F2937"/>
              </a:solidFill>
            </a:endParaRPr>
          </a:p>
        </p:txBody>
      </p:sp>
      <p:sp>
        <p:nvSpPr>
          <p:cNvPr id="23" name="Text 5"/>
          <p:cNvSpPr/>
          <p:nvPr/>
        </p:nvSpPr>
        <p:spPr>
          <a:xfrm>
            <a:off x="6704781" y="2306046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fr-FR" sz="1900" b="1" dirty="0" smtClean="0">
                <a:solidFill>
                  <a:srgbClr val="17324D"/>
                </a:solidFill>
              </a:rPr>
              <a:t>Analyse </a:t>
            </a:r>
            <a:r>
              <a:rPr lang="fr-FR" sz="1900" b="1" dirty="0">
                <a:solidFill>
                  <a:srgbClr val="17324D"/>
                </a:solidFill>
              </a:rPr>
              <a:t>pour déterminer la meilleure version du jeu de données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5. Pourquoi LightGBM 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14" y="1462452"/>
            <a:ext cx="11538857" cy="133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730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6. Optimisation des hyperparamètres et du seuil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GridSearchCV + seuil métier testés conjointement sur les 5 folds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1"/>
            <a:ext cx="3657600" cy="29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64208"/>
            <a:ext cx="164592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00784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HYPERPARAMÈTRES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0935" y="3497942"/>
            <a:ext cx="2999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5AAC"/>
                </a:solidFill>
              </a:rPr>
              <a:t>16 combinaisons × 5 folds = 80 entraînements LightGBM.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53712" y="1371601"/>
            <a:ext cx="3017520" cy="2980560"/>
          </a:xfrm>
          <a:prstGeom prst="roundRect">
            <a:avLst>
              <a:gd name="adj" fmla="val 2424"/>
            </a:avLst>
          </a:prstGeom>
          <a:solidFill>
            <a:srgbClr val="FFFDF8"/>
          </a:solidFill>
          <a:ln w="12700">
            <a:solidFill>
              <a:srgbClr val="F0D3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1664208"/>
            <a:ext cx="914400" cy="301752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700784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SEUILS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221284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</a:rPr>
              <a:t>0,10 → 0,90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</a:rPr>
              <a:t>pas de 0,05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73752" y="3054096"/>
            <a:ext cx="23774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F2937"/>
                </a:solidFill>
              </a:rPr>
              <a:t>Les probabilités sont calculées une seule fois par fold, puis réutilisées pour tester tous les seuils.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818120" y="1371600"/>
            <a:ext cx="3675888" cy="4480560"/>
          </a:xfrm>
          <a:prstGeom prst="roundRect">
            <a:avLst>
              <a:gd name="adj" fmla="val 1990"/>
            </a:avLst>
          </a:prstGeom>
          <a:solidFill>
            <a:srgbClr val="F8FAFD"/>
          </a:solidFill>
          <a:ln w="12700">
            <a:solidFill>
              <a:srgbClr val="CBD7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664208"/>
            <a:ext cx="109728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5592" y="1700784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SÉLECTION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83880" y="214884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Pour chaque couple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(hyperparamètres, seuil)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305409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moyenne du coût métier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sur les 5 folds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81160" y="3886200"/>
            <a:ext cx="658368" cy="566928"/>
          </a:xfrm>
          <a:prstGeom prst="downArrow">
            <a:avLst/>
          </a:prstGeom>
          <a:solidFill>
            <a:srgbClr val="2E5AAC"/>
          </a:solidFill>
          <a:ln w="12700">
            <a:solidFill>
              <a:srgbClr val="2E5A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4645152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2E5AAC"/>
                </a:solidFill>
              </a:rPr>
              <a:t>Meilleur couple = coût moyen minimal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2743200" y="6711696"/>
            <a:ext cx="667512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Courbe coût métier en fonction du seuil retenu.</a:t>
            </a:r>
            <a:endParaRPr lang="en-US" sz="11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7" name="Imag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39" y="2265970"/>
            <a:ext cx="3292685" cy="116966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261" y="4599049"/>
            <a:ext cx="4486901" cy="1648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7. Résultats de l’optimisation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Une amélioration réelle mais modérée : le modèle de base était déjà proche d’un bon compromis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27048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Coût métier CV moyen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5AAC"/>
                </a:solidFill>
              </a:rPr>
              <a:t>24 550,4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9E"/>
                </a:solidFill>
              </a:rPr>
              <a:t>configuration retenue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527048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Recall CV moyen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0" y="17647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F855A"/>
                </a:solidFill>
              </a:rPr>
              <a:t>0,685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520440" y="21945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9E"/>
                </a:solidFill>
              </a:rPr>
              <a:t>classe à risque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1527048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 smtClean="0">
                <a:solidFill>
                  <a:srgbClr val="5F6B76"/>
                </a:solidFill>
              </a:rPr>
              <a:t>FN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26480" y="17647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 smtClean="0">
                <a:solidFill>
                  <a:srgbClr val="D97706"/>
                </a:solidFill>
              </a:rPr>
              <a:t>1568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172200" y="21945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 smtClean="0">
                <a:solidFill>
                  <a:srgbClr val="8A949E"/>
                </a:solidFill>
              </a:rPr>
              <a:t>Mauvais</a:t>
            </a:r>
            <a:r>
              <a:rPr lang="en-US" sz="950" dirty="0" smtClean="0">
                <a:solidFill>
                  <a:srgbClr val="8A949E"/>
                </a:solidFill>
              </a:rPr>
              <a:t> client </a:t>
            </a:r>
            <a:r>
              <a:rPr lang="fr-FR" sz="950" dirty="0" smtClean="0">
                <a:solidFill>
                  <a:srgbClr val="8A949E"/>
                </a:solidFill>
              </a:rPr>
              <a:t>reconnu</a:t>
            </a:r>
            <a:r>
              <a:rPr lang="en-US" sz="950" dirty="0" smtClean="0">
                <a:solidFill>
                  <a:srgbClr val="8A949E"/>
                </a:solidFill>
              </a:rPr>
              <a:t> bon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0" y="1417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1392" y="1527048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Écart-type coût CV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0" y="17647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5F6B76"/>
                </a:solidFill>
              </a:rPr>
              <a:t>324,7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823960" y="21945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9E"/>
                </a:solidFill>
              </a:rPr>
              <a:t>robustesse inter-folds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20440" y="370332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76472" y="4005072"/>
            <a:ext cx="150876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9624" y="4041648"/>
            <a:ext cx="1362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INTERPRÉTATION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76472" y="4526280"/>
            <a:ext cx="4572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Le GridSearchCV n’a pas transformé radicalement les performances.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76472" y="5166360"/>
            <a:ext cx="4572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C’est cohérent : les paramètres de référence de LightGBM étaient déjà proches d’un bon compromis. </a:t>
            </a:r>
            <a:endParaRPr lang="en-US" sz="1450" dirty="0" smtClean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fr-FR" sz="1450" dirty="0" smtClean="0">
                <a:solidFill>
                  <a:srgbClr val="1F2937"/>
                </a:solidFill>
              </a:rPr>
              <a:t>L’optimisation</a:t>
            </a:r>
            <a:r>
              <a:rPr lang="en-US" sz="1450" dirty="0" smtClean="0">
                <a:solidFill>
                  <a:srgbClr val="1F2937"/>
                </a:solidFill>
              </a:rPr>
              <a:t>  a </a:t>
            </a:r>
            <a:r>
              <a:rPr lang="fr-FR" sz="1450" dirty="0" smtClean="0">
                <a:solidFill>
                  <a:srgbClr val="1F2937"/>
                </a:solidFill>
              </a:rPr>
              <a:t>surtout</a:t>
            </a:r>
            <a:r>
              <a:rPr lang="en-US" sz="1450" dirty="0" smtClean="0">
                <a:solidFill>
                  <a:srgbClr val="1F2937"/>
                </a:solidFill>
              </a:rPr>
              <a:t> </a:t>
            </a:r>
            <a:r>
              <a:rPr lang="en-US" sz="1450" dirty="0" err="1" smtClean="0">
                <a:solidFill>
                  <a:srgbClr val="1F2937"/>
                </a:solidFill>
              </a:rPr>
              <a:t>permis</a:t>
            </a:r>
            <a:r>
              <a:rPr lang="en-US" sz="1450" dirty="0" smtClean="0">
                <a:solidFill>
                  <a:srgbClr val="1F2937"/>
                </a:solidFill>
              </a:rPr>
              <a:t> de </a:t>
            </a:r>
            <a:r>
              <a:rPr lang="en-US" sz="1450" dirty="0" err="1" smtClean="0">
                <a:solidFill>
                  <a:srgbClr val="1F2937"/>
                </a:solidFill>
              </a:rPr>
              <a:t>trouver</a:t>
            </a:r>
            <a:r>
              <a:rPr lang="en-US" sz="1450" dirty="0" smtClean="0">
                <a:solidFill>
                  <a:srgbClr val="1F2937"/>
                </a:solidFill>
              </a:rPr>
              <a:t> le bon </a:t>
            </a:r>
            <a:r>
              <a:rPr lang="en-US" sz="1450" dirty="0" err="1">
                <a:solidFill>
                  <a:srgbClr val="1F2937"/>
                </a:solidFill>
              </a:rPr>
              <a:t>é</a:t>
            </a:r>
            <a:r>
              <a:rPr lang="en-US" sz="1450" dirty="0" err="1" smtClean="0">
                <a:solidFill>
                  <a:srgbClr val="1F2937"/>
                </a:solidFill>
              </a:rPr>
              <a:t>quilibre</a:t>
            </a:r>
            <a:r>
              <a:rPr lang="en-US" sz="1450" dirty="0" smtClean="0">
                <a:solidFill>
                  <a:srgbClr val="1F2937"/>
                </a:solidFill>
              </a:rPr>
              <a:t> FN/TP  </a:t>
            </a:r>
            <a:r>
              <a:rPr lang="fr-FR" sz="1450" dirty="0" smtClean="0">
                <a:solidFill>
                  <a:srgbClr val="1F2937"/>
                </a:solidFill>
              </a:rPr>
              <a:t>afin</a:t>
            </a:r>
            <a:r>
              <a:rPr lang="en-US" sz="1450" dirty="0" smtClean="0">
                <a:solidFill>
                  <a:srgbClr val="1F2937"/>
                </a:solidFill>
              </a:rPr>
              <a:t> de </a:t>
            </a:r>
            <a:r>
              <a:rPr lang="fr-FR" sz="1450" dirty="0" smtClean="0">
                <a:solidFill>
                  <a:srgbClr val="1F2937"/>
                </a:solidFill>
              </a:rPr>
              <a:t>minimiser</a:t>
            </a:r>
            <a:r>
              <a:rPr lang="en-US" sz="1450" dirty="0" smtClean="0">
                <a:solidFill>
                  <a:srgbClr val="1F2937"/>
                </a:solidFill>
              </a:rPr>
              <a:t> le </a:t>
            </a:r>
            <a:r>
              <a:rPr lang="en-US" sz="1450" dirty="0" err="1" smtClean="0">
                <a:solidFill>
                  <a:srgbClr val="1F2937"/>
                </a:solidFill>
              </a:rPr>
              <a:t>cout</a:t>
            </a:r>
            <a:r>
              <a:rPr lang="en-US" sz="1450" dirty="0" smtClean="0">
                <a:solidFill>
                  <a:srgbClr val="1F2937"/>
                </a:solidFill>
              </a:rPr>
              <a:t> métier</a:t>
            </a:r>
            <a:endParaRPr lang="en-US" sz="14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158" y="2770632"/>
            <a:ext cx="8554644" cy="790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7. Résultats de l’optimisation</a:t>
            </a:r>
            <a:endParaRPr lang="en-US" sz="2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875" y="1107989"/>
            <a:ext cx="8019182" cy="506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33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800" b="1" dirty="0">
                <a:solidFill>
                  <a:srgbClr val="17324D"/>
                </a:solidFill>
              </a:rPr>
              <a:t>Évaluation finale et contrôle du </a:t>
            </a:r>
            <a:r>
              <a:rPr lang="fr-FR" sz="2800" b="1" dirty="0" err="1">
                <a:solidFill>
                  <a:srgbClr val="17324D"/>
                </a:solidFill>
              </a:rPr>
              <a:t>surapprentissage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300" dirty="0">
                <a:solidFill>
                  <a:srgbClr val="5F6B76"/>
                </a:solidFill>
              </a:rPr>
              <a:t> </a:t>
            </a:r>
            <a:r>
              <a:rPr lang="fr-FR" sz="1300" dirty="0" smtClean="0">
                <a:solidFill>
                  <a:srgbClr val="5F6B76"/>
                </a:solidFill>
              </a:rPr>
              <a:t>comparaisons </a:t>
            </a:r>
            <a:r>
              <a:rPr lang="fr-FR" sz="1300" dirty="0">
                <a:solidFill>
                  <a:srgbClr val="5F6B76"/>
                </a:solidFill>
              </a:rPr>
              <a:t>entre les données d'entraînement et les données finales jamais vues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27632"/>
            <a:ext cx="114300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64208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PROTOCOLE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84832"/>
            <a:ext cx="466344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1F2937"/>
                </a:solidFill>
              </a:rPr>
              <a:t>80 % pour l’apprentissage, la validation croisée et la sélection.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1F2937"/>
                </a:solidFill>
              </a:rPr>
              <a:t>20 % conservés pour l’évaluation finale.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1F2937"/>
                </a:solidFill>
              </a:rPr>
              <a:t>Aucun ajustement du </a:t>
            </a:r>
            <a:r>
              <a:rPr lang="en-US" sz="1520" dirty="0" err="1">
                <a:solidFill>
                  <a:srgbClr val="1F2937"/>
                </a:solidFill>
              </a:rPr>
              <a:t>seuil</a:t>
            </a:r>
            <a:r>
              <a:rPr lang="en-US" sz="1520" dirty="0">
                <a:solidFill>
                  <a:srgbClr val="1F2937"/>
                </a:solidFill>
              </a:rPr>
              <a:t> </a:t>
            </a:r>
            <a:r>
              <a:rPr lang="en-US" sz="1520" dirty="0" smtClean="0">
                <a:solidFill>
                  <a:srgbClr val="1F2937"/>
                </a:solidFill>
              </a:rPr>
              <a:t>avec data du </a:t>
            </a:r>
            <a:r>
              <a:rPr lang="en-US" sz="1520" dirty="0" err="1" smtClean="0">
                <a:solidFill>
                  <a:srgbClr val="1F2937"/>
                </a:solidFill>
              </a:rPr>
              <a:t>jeu</a:t>
            </a:r>
            <a:r>
              <a:rPr lang="en-US" sz="1520" dirty="0" smtClean="0">
                <a:solidFill>
                  <a:srgbClr val="1F2937"/>
                </a:solidFill>
              </a:rPr>
              <a:t> </a:t>
            </a:r>
            <a:r>
              <a:rPr lang="en-US" sz="1520" dirty="0">
                <a:solidFill>
                  <a:srgbClr val="1F2937"/>
                </a:solidFill>
              </a:rPr>
              <a:t>final.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1F2937"/>
                </a:solidFill>
              </a:rPr>
              <a:t>Contrôle du surapprentissage avec comparaison train / final.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4572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fr-FR" sz="1320" b="1" dirty="0">
                <a:solidFill>
                  <a:srgbClr val="2E5AAC"/>
                </a:solidFill>
              </a:rPr>
              <a:t>Objectif : vérifier que le modèle conserve des performances correctes de généralisation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400800" y="1325880"/>
            <a:ext cx="5074920" cy="3246120"/>
          </a:xfrm>
          <a:prstGeom prst="roundRect">
            <a:avLst/>
          </a:prstGeom>
          <a:solidFill>
            <a:srgbClr val="F3F5F8">
              <a:alpha val="95000"/>
            </a:srgbClr>
          </a:solidFill>
          <a:ln w="17780">
            <a:solidFill>
              <a:srgbClr val="AAB4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490472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2E5AAC"/>
                </a:solidFill>
              </a:rPr>
              <a:t>MATRICE DE CONFUSION EN 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818856"/>
            <a:ext cx="5074920" cy="1033304"/>
          </a:xfrm>
          <a:prstGeom prst="roundRect">
            <a:avLst/>
          </a:prstGeom>
          <a:solidFill>
            <a:srgbClr val="F3F5F8">
              <a:alpha val="95000"/>
            </a:srgbClr>
          </a:solidFill>
          <a:ln w="17780">
            <a:solidFill>
              <a:srgbClr val="AAB4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494690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2E5AAC"/>
                </a:solidFill>
              </a:rPr>
              <a:t>COUT METIER POUR 1000 CLIENTS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 rotWithShape="1">
          <a:blip r:embed="rId3"/>
          <a:srcRect r="5960" b="8333"/>
          <a:stretch/>
        </p:blipFill>
        <p:spPr>
          <a:xfrm>
            <a:off x="6601968" y="5367528"/>
            <a:ext cx="4712208" cy="419164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284" y="2020525"/>
            <a:ext cx="5337951" cy="22957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9. Comprendre les décisions du modèle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Feature importance globale et explication locale pour la transparence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64208"/>
            <a:ext cx="91440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700784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GLOBAL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4348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Quelles variables influencent le plus le modèle dans l’ensemble 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19" y="2834640"/>
            <a:ext cx="4631056" cy="1337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La feature importance permet d’identifier les variables les plus utilisées par LightGBM et de vérifier qu’elles sont cohérentes avec le risque de </a:t>
            </a:r>
            <a:r>
              <a:rPr lang="en-US" sz="1450" dirty="0" err="1">
                <a:solidFill>
                  <a:srgbClr val="1F2937"/>
                </a:solidFill>
              </a:rPr>
              <a:t>crédit</a:t>
            </a:r>
            <a:r>
              <a:rPr lang="en-US" sz="1450" dirty="0" smtClean="0">
                <a:solidFill>
                  <a:srgbClr val="1F2937"/>
                </a:solidFill>
              </a:rPr>
              <a:t>.</a:t>
            </a:r>
          </a:p>
          <a:p>
            <a:pPr marL="0" indent="0">
              <a:buNone/>
            </a:pPr>
            <a:endParaRPr lang="en-US" sz="1450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fr-FR" sz="1450" dirty="0" smtClean="0">
                <a:solidFill>
                  <a:srgbClr val="1F2937"/>
                </a:solidFill>
              </a:rPr>
              <a:t>Les 20 variables avec le plus d’influence sur le modèle sont affichées si près et explique 72% du résultat</a:t>
            </a:r>
            <a:endParaRPr lang="fr-FR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3"/>
          <a:srcRect l="1384"/>
          <a:stretch/>
        </p:blipFill>
        <p:spPr>
          <a:xfrm>
            <a:off x="6162674" y="1371600"/>
            <a:ext cx="5838469" cy="454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8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10. Mise en œuvre MLOps avec MLflow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Traçabilité, versionnement du modèle et pré-production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746504"/>
            <a:ext cx="384048" cy="384048"/>
          </a:xfrm>
          <a:prstGeom prst="ellipse">
            <a:avLst/>
          </a:prstGeom>
          <a:solidFill>
            <a:srgbClr val="2E5AAC"/>
          </a:solidFill>
          <a:ln w="12700">
            <a:solidFill>
              <a:srgbClr val="2E5A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242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7190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Tracking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0848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6"/>
                </a:solidFill>
              </a:rPr>
              <a:t>runs, paramètres, métriques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520440" y="1508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1746504"/>
            <a:ext cx="384048" cy="384048"/>
          </a:xfrm>
          <a:prstGeom prst="ellipse">
            <a:avLst/>
          </a:prstGeom>
          <a:solidFill>
            <a:srgbClr val="2E5AAC"/>
          </a:solidFill>
          <a:ln w="12700">
            <a:solidFill>
              <a:srgbClr val="2E5A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8242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17190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MLflow UI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06240" y="20848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6"/>
                </a:solidFill>
              </a:rPr>
              <a:t>comparaison des expériences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355080" y="1508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EFF7F3"/>
          </a:solidFill>
          <a:ln w="12700">
            <a:solidFill>
              <a:srgbClr val="B9D9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9672" y="1746504"/>
            <a:ext cx="384048" cy="38404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18242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17190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55A"/>
                </a:solidFill>
              </a:rPr>
              <a:t>Model Registry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40880" y="20848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6"/>
                </a:solidFill>
              </a:rPr>
              <a:t>modèle versionné et réutilisable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189720" y="1508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54312" y="1746504"/>
            <a:ext cx="384048" cy="384048"/>
          </a:xfrm>
          <a:prstGeom prst="ellipse">
            <a:avLst/>
          </a:prstGeom>
          <a:solidFill>
            <a:srgbClr val="2E5AAC"/>
          </a:solidFill>
          <a:ln w="12700">
            <a:solidFill>
              <a:srgbClr val="2E5A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4312" y="18242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0" y="17190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Serving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875520" y="20848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6"/>
                </a:solidFill>
              </a:rPr>
              <a:t>exposition du modèle pour prédiction</a:t>
            </a:r>
            <a:endParaRPr lang="en-US" sz="108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17" y="3282696"/>
            <a:ext cx="9976485" cy="3123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11. Conclusion &amp; opportunités d’amélioration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 smtClean="0">
                <a:solidFill>
                  <a:srgbClr val="5F6B76"/>
                </a:solidFill>
              </a:rPr>
              <a:t>Bilan</a:t>
            </a:r>
            <a:r>
              <a:rPr lang="en-US" sz="1300" dirty="0" smtClean="0">
                <a:solidFill>
                  <a:srgbClr val="5F6B76"/>
                </a:solidFill>
              </a:rPr>
              <a:t> </a:t>
            </a:r>
            <a:r>
              <a:rPr lang="en-US" sz="1300" dirty="0">
                <a:solidFill>
                  <a:srgbClr val="5F6B76"/>
                </a:solidFill>
              </a:rPr>
              <a:t>du travail réalisé et </a:t>
            </a:r>
            <a:r>
              <a:rPr lang="en-US" sz="1300" dirty="0" err="1">
                <a:solidFill>
                  <a:srgbClr val="5F6B76"/>
                </a:solidFill>
              </a:rPr>
              <a:t>pistes</a:t>
            </a:r>
            <a:r>
              <a:rPr lang="en-US" sz="1300" dirty="0">
                <a:solidFill>
                  <a:srgbClr val="5F6B76"/>
                </a:solidFill>
              </a:rPr>
              <a:t> </a:t>
            </a:r>
            <a:r>
              <a:rPr lang="en-US" sz="1300" dirty="0" err="1" smtClean="0">
                <a:solidFill>
                  <a:srgbClr val="5F6B76"/>
                </a:solidFill>
              </a:rPr>
              <a:t>d’amélioration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257300"/>
            <a:ext cx="5257800" cy="4549140"/>
          </a:xfrm>
          <a:prstGeom prst="roundRect">
            <a:avLst>
              <a:gd name="adj" fmla="val 1649"/>
            </a:avLst>
          </a:prstGeom>
          <a:solidFill>
            <a:srgbClr val="F8FBF9"/>
          </a:solidFill>
          <a:ln w="12700">
            <a:solidFill>
              <a:srgbClr val="C3DD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64208"/>
            <a:ext cx="1234440" cy="301752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700784"/>
            <a:ext cx="1088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855A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0887" y="4418457"/>
            <a:ext cx="4389120" cy="9185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fr-FR" sz="1400" b="1" dirty="0">
                <a:solidFill>
                  <a:srgbClr val="17324D"/>
                </a:solidFill>
              </a:rPr>
              <a:t>Les gains obtenus avec </a:t>
            </a:r>
            <a:r>
              <a:rPr lang="fr-FR" sz="1400" b="1" dirty="0" err="1">
                <a:solidFill>
                  <a:srgbClr val="17324D"/>
                </a:solidFill>
              </a:rPr>
              <a:t>LightGBM</a:t>
            </a:r>
            <a:r>
              <a:rPr lang="fr-FR" sz="1400" b="1" dirty="0">
                <a:solidFill>
                  <a:srgbClr val="17324D"/>
                </a:solidFill>
              </a:rPr>
              <a:t> restent modestes par rapport à la régression logistique, et l’optimisation des </a:t>
            </a:r>
            <a:r>
              <a:rPr lang="fr-FR" sz="1400" b="1" dirty="0" err="1">
                <a:solidFill>
                  <a:srgbClr val="17324D"/>
                </a:solidFill>
              </a:rPr>
              <a:t>hyperparamètres</a:t>
            </a:r>
            <a:r>
              <a:rPr lang="fr-FR" sz="1400" b="1" dirty="0">
                <a:solidFill>
                  <a:srgbClr val="17324D"/>
                </a:solidFill>
              </a:rPr>
              <a:t> n’a apporté qu’une amélioration limitée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0887" y="2112835"/>
            <a:ext cx="443484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Dataset fusionné, enrichi et préparé pour la modélisation.</a:t>
            </a:r>
            <a:endParaRPr lang="en-US" sz="1460" dirty="0"/>
          </a:p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Comparaison de plusieurs modèles avec validation croisée.</a:t>
            </a:r>
            <a:endParaRPr lang="en-US" sz="1460" dirty="0"/>
          </a:p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Optimisation du LightGBM et du seuil selon un coût métier.</a:t>
            </a:r>
            <a:endParaRPr lang="en-US" sz="1460" dirty="0"/>
          </a:p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Suivi des expériences et versionnement du modèle avec MLflow.</a:t>
            </a:r>
            <a:endParaRPr lang="en-US" sz="146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FFDF8"/>
          </a:solidFill>
          <a:ln w="12700">
            <a:solidFill>
              <a:srgbClr val="F0D3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664208"/>
            <a:ext cx="2468880" cy="301752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700784"/>
            <a:ext cx="2322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OPPORTUNITÉS D’AMÉLIORATION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554605"/>
            <a:ext cx="443484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177800" indent="-177800">
              <a:buSzPct val="100000"/>
              <a:buChar char="•"/>
            </a:pPr>
            <a:endParaRPr lang="en-US" sz="1430" dirty="0">
              <a:solidFill>
                <a:srgbClr val="1F2937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fr-FR" sz="1600" b="1" dirty="0"/>
              <a:t>Améliorer les variables</a:t>
            </a:r>
            <a:r>
              <a:rPr lang="fr-FR" sz="1600" dirty="0"/>
              <a:t> : </a:t>
            </a:r>
            <a:r>
              <a:rPr lang="fr-FR" sz="1600" dirty="0" err="1"/>
              <a:t>feature</a:t>
            </a:r>
            <a:r>
              <a:rPr lang="fr-FR" sz="1600" dirty="0"/>
              <a:t> engineering</a:t>
            </a:r>
            <a:r>
              <a:rPr lang="fr-FR" sz="1600" dirty="0" smtClean="0"/>
              <a:t>, </a:t>
            </a:r>
            <a:r>
              <a:rPr lang="fr-FR" sz="1600" dirty="0"/>
              <a:t>analyse plus fine des historiques clients</a:t>
            </a:r>
            <a:r>
              <a:rPr lang="fr-FR" sz="1600" dirty="0" smtClean="0"/>
              <a:t>.</a:t>
            </a:r>
          </a:p>
          <a:p>
            <a:pPr marL="177800" indent="-177800">
              <a:buSzPct val="100000"/>
              <a:buChar char="•"/>
            </a:pPr>
            <a:r>
              <a:rPr lang="fr-FR" sz="1600" b="1" dirty="0"/>
              <a:t>Renforcer l’</a:t>
            </a:r>
            <a:r>
              <a:rPr lang="fr-FR" sz="1600" b="1" dirty="0" err="1"/>
              <a:t>explicabilité</a:t>
            </a:r>
            <a:r>
              <a:rPr lang="fr-FR" sz="1600" dirty="0"/>
              <a:t> : SHAP global et local pour mieux comprendre les profils à risque</a:t>
            </a:r>
            <a:r>
              <a:rPr lang="fr-FR" sz="1600" dirty="0" smtClean="0"/>
              <a:t>.</a:t>
            </a:r>
          </a:p>
          <a:p>
            <a:pPr marL="177800" indent="-177800">
              <a:buSzPct val="100000"/>
              <a:buChar char="•"/>
            </a:pPr>
            <a:r>
              <a:rPr lang="fr-FR" sz="1600" b="1" dirty="0"/>
              <a:t>Explorer d’autres optimisations</a:t>
            </a:r>
            <a:r>
              <a:rPr lang="fr-FR" sz="1600" dirty="0"/>
              <a:t> : </a:t>
            </a:r>
            <a:r>
              <a:rPr lang="fr-FR" sz="1600" dirty="0" err="1"/>
              <a:t>Optuna</a:t>
            </a:r>
            <a:r>
              <a:rPr lang="fr-FR" sz="1600" dirty="0"/>
              <a:t> ou une recherche plus ciblée des </a:t>
            </a:r>
            <a:r>
              <a:rPr lang="fr-FR" sz="1600" dirty="0" err="1" smtClean="0"/>
              <a:t>hyperparamètres</a:t>
            </a:r>
            <a:endParaRPr lang="fr-FR" sz="1600" dirty="0" smtClean="0"/>
          </a:p>
          <a:p>
            <a:pPr marL="177800" indent="-177800">
              <a:buSzPct val="100000"/>
              <a:buChar char="•"/>
            </a:pPr>
            <a:r>
              <a:rPr lang="fr-FR" sz="1600" b="1" dirty="0"/>
              <a:t>Étendre l’optimisation </a:t>
            </a:r>
            <a:r>
              <a:rPr lang="fr-FR" sz="1600" dirty="0" smtClean="0"/>
              <a:t>des </a:t>
            </a:r>
            <a:r>
              <a:rPr lang="fr-FR" sz="1600" dirty="0" err="1" smtClean="0"/>
              <a:t>hyperparamètres</a:t>
            </a:r>
            <a:r>
              <a:rPr lang="fr-FR" sz="1600" dirty="0" smtClean="0"/>
              <a:t> à </a:t>
            </a:r>
            <a:r>
              <a:rPr lang="fr-FR" sz="1600" dirty="0"/>
              <a:t>d’autres modèles</a:t>
            </a:r>
            <a:endParaRPr lang="fr-FR" sz="1600" dirty="0" smtClean="0"/>
          </a:p>
          <a:p>
            <a:pPr marL="177800" indent="-177800">
              <a:buSzPct val="100000"/>
              <a:buChar char="•"/>
            </a:pPr>
            <a:r>
              <a:rPr lang="fr-FR" sz="1600" b="1" dirty="0" smtClean="0"/>
              <a:t>Manque de données </a:t>
            </a:r>
            <a:r>
              <a:rPr lang="fr-FR" sz="1600" dirty="0" smtClean="0"/>
              <a:t>explicatives dans le data set original, collecte plus large à réaliser.</a:t>
            </a:r>
          </a:p>
          <a:p>
            <a:pPr marL="177800" indent="-177800">
              <a:buSzPct val="100000"/>
              <a:buChar char="•"/>
            </a:pPr>
            <a:endParaRPr lang="fr-FR" sz="1600" dirty="0"/>
          </a:p>
          <a:p>
            <a:pPr marL="177800" indent="-177800">
              <a:buSzPct val="100000"/>
              <a:buChar char="•"/>
            </a:pPr>
            <a:endParaRPr lang="en-US" sz="14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1488</Words>
  <Application>Microsoft Office PowerPoint</Application>
  <PresentationFormat>Grand écran</PresentationFormat>
  <Paragraphs>231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OpenClassrooms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scoring &amp; MLOps</dc:title>
  <dc:subject>Présentation TP MLOps - Credit scoring</dc:subject>
  <dc:creator>philippe MAGNE</dc:creator>
  <cp:lastModifiedBy>Philippe MAGNE</cp:lastModifiedBy>
  <cp:revision>26</cp:revision>
  <dcterms:created xsi:type="dcterms:W3CDTF">2026-09-14T07:32:53Z</dcterms:created>
  <dcterms:modified xsi:type="dcterms:W3CDTF">2026-09-25T07:04:04Z</dcterms:modified>
</cp:coreProperties>
</file>